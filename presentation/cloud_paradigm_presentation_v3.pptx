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EF09AE-D8CA-41AC-966D-B5AC23191C20}" v="1" dt="2026-03-24T23:37:01.4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66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eid Purvis" userId="02e43b62-a388-49f8-90a4-26da716af0b2" providerId="ADAL" clId="{EF951D02-CBF5-4624-B829-8F958E7CBAC1}"/>
    <pc:docChg chg="custSel modSld">
      <pc:chgData name="William Reid Purvis" userId="02e43b62-a388-49f8-90a4-26da716af0b2" providerId="ADAL" clId="{EF951D02-CBF5-4624-B829-8F958E7CBAC1}" dt="2026-03-24T23:37:01.446" v="6"/>
      <pc:docMkLst>
        <pc:docMk/>
      </pc:docMkLst>
      <pc:sldChg chg="modSp mod">
        <pc:chgData name="William Reid Purvis" userId="02e43b62-a388-49f8-90a4-26da716af0b2" providerId="ADAL" clId="{EF951D02-CBF5-4624-B829-8F958E7CBAC1}" dt="2026-03-24T23:36:47.531" v="4" actId="1076"/>
        <pc:sldMkLst>
          <pc:docMk/>
          <pc:sldMk cId="0" sldId="257"/>
        </pc:sldMkLst>
        <pc:picChg chg="mod modCrop">
          <ac:chgData name="William Reid Purvis" userId="02e43b62-a388-49f8-90a4-26da716af0b2" providerId="ADAL" clId="{EF951D02-CBF5-4624-B829-8F958E7CBAC1}" dt="2026-03-24T23:36:47.531" v="4" actId="1076"/>
          <ac:picMkLst>
            <pc:docMk/>
            <pc:sldMk cId="0" sldId="257"/>
            <ac:picMk id="5" creationId="{00000000-0000-0000-0000-000000000000}"/>
          </ac:picMkLst>
        </pc:picChg>
      </pc:sldChg>
      <pc:sldChg chg="addSp delSp modSp mod">
        <pc:chgData name="William Reid Purvis" userId="02e43b62-a388-49f8-90a4-26da716af0b2" providerId="ADAL" clId="{EF951D02-CBF5-4624-B829-8F958E7CBAC1}" dt="2026-03-24T23:37:01.446" v="6"/>
        <pc:sldMkLst>
          <pc:docMk/>
          <pc:sldMk cId="0" sldId="258"/>
        </pc:sldMkLst>
        <pc:picChg chg="del">
          <ac:chgData name="William Reid Purvis" userId="02e43b62-a388-49f8-90a4-26da716af0b2" providerId="ADAL" clId="{EF951D02-CBF5-4624-B829-8F958E7CBAC1}" dt="2026-03-24T23:36:55.853" v="5" actId="478"/>
          <ac:picMkLst>
            <pc:docMk/>
            <pc:sldMk cId="0" sldId="258"/>
            <ac:picMk id="5" creationId="{00000000-0000-0000-0000-000000000000}"/>
          </ac:picMkLst>
        </pc:picChg>
        <pc:picChg chg="add mod">
          <ac:chgData name="William Reid Purvis" userId="02e43b62-a388-49f8-90a4-26da716af0b2" providerId="ADAL" clId="{EF951D02-CBF5-4624-B829-8F958E7CBAC1}" dt="2026-03-24T23:37:01.446" v="6"/>
          <ac:picMkLst>
            <pc:docMk/>
            <pc:sldMk cId="0" sldId="258"/>
            <ac:picMk id="24" creationId="{9A8AA442-6F97-9FB8-C2EF-E5348BF6305A}"/>
          </ac:picMkLst>
        </pc:pic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7470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6032" y="731520"/>
            <a:ext cx="2926080" cy="23682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383280" y="594360"/>
            <a:ext cx="0" cy="393192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3611880" y="658368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 CLOUD PARADIGM PTY LTD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3611880" y="987552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3611880" y="1078992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is Dead,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11880" y="1682496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Live Infrastructure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3611880" y="2249424"/>
            <a:ext cx="5212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Age of Agentic AI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3611880" y="2971800"/>
            <a:ext cx="512064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611880" y="3090672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Purvs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11880" y="34015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&amp; Principal | Cloud Paradigm Pty Ltd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11880" y="373075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11880" y="4114800"/>
            <a:ext cx="109728" cy="109728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4"/>
          <p:cNvSpPr/>
          <p:nvPr/>
        </p:nvSpPr>
        <p:spPr>
          <a:xfrm>
            <a:off x="3785616" y="4114800"/>
            <a:ext cx="109728" cy="109728"/>
          </a:xfrm>
          <a:prstGeom prst="ellipse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3959352" y="4114800"/>
            <a:ext cx="109728" cy="109728"/>
          </a:xfrm>
          <a:prstGeom prst="ellipse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AGENDA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Session Overview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Infrastructure is Dead — Long Live Infrastructure in the Age of Agentic AI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Open (0–8 min)  Setting the scene + opening poll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What Agentic AI actually means, and where your org sits today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Part 1 (8–22 min)  The infrastructure paradigm shift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From manual pipelines to autonomous, intent-driven architectures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Part 2 (22–38 min)  Agents in the DevOps lifecycle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Pipeline integration, live demo, guardrails and governance + Q&amp;A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Part 3 (38–52 min)  Real-world application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Two case studies, audience poll, and addressing your concerns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Part 4 (52–60 min)  Getting started + open Q&amp;A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The engineer's new role, adoption roadmap, key takeaways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Agentic AI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</a:t>
            </a:r>
          </a:p>
        </p:txBody>
      </p:sp>
      <p:sp>
        <p:nvSpPr>
          <p:cNvPr id="504" name="TagBg2"/>
          <p:cNvSpPr/>
          <p:nvPr/>
        </p:nvSpPr>
        <p:spPr>
          <a:xfrm>
            <a:off x="2261032" y="4590288"/>
            <a:ext cx="77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261032" y="4590288"/>
            <a:ext cx="7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DevOps</a:t>
            </a:r>
          </a:p>
        </p:txBody>
      </p:sp>
      <p:sp>
        <p:nvSpPr>
          <p:cNvPr id="506" name="TagBg3"/>
          <p:cNvSpPr/>
          <p:nvPr/>
        </p:nvSpPr>
        <p:spPr>
          <a:xfrm>
            <a:off x="3121032" y="4590288"/>
            <a:ext cx="172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121032" y="4590288"/>
            <a:ext cx="17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Enterprise Cloud</a:t>
            </a:r>
          </a:p>
        </p:txBody>
      </p:sp>
      <p:sp>
        <p:nvSpPr>
          <p:cNvPr id="508" name="TagBg4"/>
          <p:cNvSpPr/>
          <p:nvPr/>
        </p:nvSpPr>
        <p:spPr>
          <a:xfrm>
            <a:off x="4931032" y="4590288"/>
            <a:ext cx="153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4931032" y="4590288"/>
            <a:ext cx="15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Infrastructure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3"/>
          <p:cNvSpPr/>
          <p:nvPr/>
        </p:nvSpPr>
        <p:spPr>
          <a:xfrm>
            <a:off x="256032" y="256032"/>
            <a:ext cx="128016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4"/>
          <p:cNvSpPr/>
          <p:nvPr/>
        </p:nvSpPr>
        <p:spPr>
          <a:xfrm>
            <a:off x="256032" y="2560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256032" y="658368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 Touch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56032" y="1078992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 Purvs  |  Owner &amp; Principal, Cloud Paradigm Pty Ltd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8"/>
          <p:cNvSpPr/>
          <p:nvPr/>
        </p:nvSpPr>
        <p:spPr>
          <a:xfrm>
            <a:off x="301752" y="2331720"/>
            <a:ext cx="2651760" cy="1280160"/>
          </a:xfrm>
          <a:prstGeom prst="rect">
            <a:avLst/>
          </a:prstGeom>
          <a:solidFill>
            <a:srgbClr val="E8F7F4"/>
          </a:solidFill>
          <a:ln w="1524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301752" y="2331720"/>
            <a:ext cx="2651760" cy="64008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301752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1C8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393192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+61 427 038 685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3246120" y="2331720"/>
            <a:ext cx="2651760" cy="1280160"/>
          </a:xfrm>
          <a:prstGeom prst="rect">
            <a:avLst/>
          </a:prstGeom>
          <a:solidFill>
            <a:srgbClr val="E8F4FF"/>
          </a:solidFill>
          <a:ln w="1524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3246120" y="2331720"/>
            <a:ext cx="2651760" cy="64008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3246120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8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3337560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reidpurvis@cloudparadigm.com.au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6190488" y="2331720"/>
            <a:ext cx="2651760" cy="1280160"/>
          </a:xfrm>
          <a:prstGeom prst="rect">
            <a:avLst/>
          </a:prstGeom>
          <a:solidFill>
            <a:srgbClr val="E8F7F4"/>
          </a:solidFill>
          <a:ln w="1524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6190488" y="2331720"/>
            <a:ext cx="2651760" cy="64008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190488" y="24414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259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81928" y="2807208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www.cloudparadigm.com.au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Paradigm Pty Ltd  |  cloudparadigm.com.au</a:t>
            </a:r>
            <a:endParaRPr lang="en-US" sz="75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9A8AA442-6F97-9FB8-C2EF-E5348BF630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ning Po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122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122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OPENING POLL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Where does your organisation sit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on the cloud automation maturity curve?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Raise your hand for the option that best describes you today: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Level 1 — Manual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Infrastructure provisioned by hand; runbooks and tickets rule the day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Level 2 — Scripted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Terraform or Bicep in place, but humans drive every pipeline trigger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Level 3 — Automated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CI/CD pipelines running reliably; some self-healing in production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Level 4 — Intelligent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AI-assisted code review, anomaly detection, or auto-remediation in play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58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58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Poll</a:t>
            </a:r>
          </a:p>
        </p:txBody>
      </p:sp>
      <p:sp>
        <p:nvSpPr>
          <p:cNvPr id="502" name="TagBg1"/>
          <p:cNvSpPr/>
          <p:nvPr/>
        </p:nvSpPr>
        <p:spPr>
          <a:xfrm>
            <a:off x="926032" y="4590288"/>
            <a:ext cx="229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926032" y="4590288"/>
            <a:ext cx="229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Audience Participation</a:t>
            </a:r>
          </a:p>
        </p:txBody>
      </p:sp>
      <p:sp>
        <p:nvSpPr>
          <p:cNvPr id="504" name="TagBg2"/>
          <p:cNvSpPr/>
          <p:nvPr/>
        </p:nvSpPr>
        <p:spPr>
          <a:xfrm>
            <a:off x="3306032" y="4590288"/>
            <a:ext cx="153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3306032" y="4590288"/>
            <a:ext cx="15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Cloud Maturity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is Agentic AI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1135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113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FOUNDATIONS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What is Agentic AI?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And what it definitely is not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 working definition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An Agentic AI system perceives its environment, reasons over a goal, plans a sequence of actions, executes those actions using tools, and adapts based on results — with minimal human intervention at each step.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Not a chatbot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Copilots suggest. Agents act. The difference is autonomy, memory, and tool use.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Not pure automation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Scripts follow fixed rules. Agents reason about context and handle novel situations.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Key capabilities that make it work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Goal decomposition, tool calling, memory, multi-step planning, and feedback loops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Agentic AI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124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12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Foundations</a:t>
            </a:r>
          </a:p>
        </p:txBody>
      </p:sp>
      <p:sp>
        <p:nvSpPr>
          <p:cNvPr id="504" name="TagBg2"/>
          <p:cNvSpPr/>
          <p:nvPr/>
        </p:nvSpPr>
        <p:spPr>
          <a:xfrm>
            <a:off x="2831032" y="4590288"/>
            <a:ext cx="48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831032" y="4590288"/>
            <a:ext cx="48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LLM</a:t>
            </a:r>
          </a:p>
        </p:txBody>
      </p:sp>
      <p:sp>
        <p:nvSpPr>
          <p:cNvPr id="506" name="TagBg3"/>
          <p:cNvSpPr/>
          <p:nvPr/>
        </p:nvSpPr>
        <p:spPr>
          <a:xfrm>
            <a:off x="3406032" y="4590288"/>
            <a:ext cx="172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406032" y="4590288"/>
            <a:ext cx="17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 AI Foundry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Old Wor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1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The Old World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Manual pipelines, static configs, reactive operations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How infrastructure worked (and in many places still does)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Ticket-driven provisioning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Engineers open requests; wait times measured in hours or days; human bottlenecks at every stage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Static configuration drift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IaC templates describe desired state but nothing enforces it continuously; drift accumulates silently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Reactive incident response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Alerts fire, engineers wake up, they dig through logs, identify root cause, apply fix — repeat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Knowledge locked in individuals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Runbooks age out; tribal knowledge walks out the door; onboarding takes months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Legacy Ops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200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200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Manual Provisioning</a:t>
            </a:r>
          </a:p>
        </p:txBody>
      </p:sp>
      <p:sp>
        <p:nvSpPr>
          <p:cNvPr id="504" name="TagBg2"/>
          <p:cNvSpPr/>
          <p:nvPr/>
        </p:nvSpPr>
        <p:spPr>
          <a:xfrm>
            <a:off x="3591032" y="4590288"/>
            <a:ext cx="181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3591032" y="4590288"/>
            <a:ext cx="18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Incident Response</a:t>
            </a:r>
          </a:p>
        </p:txBody>
      </p:sp>
      <p:sp>
        <p:nvSpPr>
          <p:cNvPr id="506" name="TagBg3"/>
          <p:cNvSpPr/>
          <p:nvPr/>
        </p:nvSpPr>
        <p:spPr>
          <a:xfrm>
            <a:off x="5496032" y="4590288"/>
            <a:ext cx="48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5496032" y="4590288"/>
            <a:ext cx="48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IaC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ew Worl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1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The New World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Autonomous agents, intent-driven infrastructure, proactive operations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What the AI-native infrastructure paradigm looks like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Intent-driven provisioning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An engineer describes the outcome in natural language; an agent reasons, generates IaC, validates, and deploys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Continuous compliance enforcement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Agents monitor configuration state in real time and remediate drift before it causes incidents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Proactive self-healing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Agents detect anomalies, correlate signals across services, and remediate — often before an alert fires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Institutional knowledge encoded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Runbooks become agent prompts; best practices are embedded in guardrails; expertise scales across teams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Agentic AI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134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13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Self-Healing</a:t>
            </a:r>
          </a:p>
        </p:txBody>
      </p:sp>
      <p:sp>
        <p:nvSpPr>
          <p:cNvPr id="504" name="TagBg2"/>
          <p:cNvSpPr/>
          <p:nvPr/>
        </p:nvSpPr>
        <p:spPr>
          <a:xfrm>
            <a:off x="2926032" y="4590288"/>
            <a:ext cx="143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926032" y="4590288"/>
            <a:ext cx="143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Intent-Driven</a:t>
            </a:r>
          </a:p>
        </p:txBody>
      </p:sp>
      <p:sp>
        <p:nvSpPr>
          <p:cNvPr id="506" name="TagBg3"/>
          <p:cNvSpPr/>
          <p:nvPr/>
        </p:nvSpPr>
        <p:spPr>
          <a:xfrm>
            <a:off x="4451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4451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zure Archite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1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Agentic AI Architecture on Azure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The building blocks available to you today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Azure AI Foundry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Model deployment, orchestration, and evaluation — the core runtime for your agents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Semantic Kernel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Microsoft's open-source SDK for building agent workflows that call Azure services as tools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GitHub Copilot for Azure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AI-assisted IaC generation, PR reviews, and pipeline troubleshooting inside your existing workflow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Azure DevOps + Pipelines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The CI/CD backbone that agents plug into to trigger, monitor, and validate deployments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Azure Policy + Defender for Cloud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The guardrail layer — agents can query, enforce, and remediate against policy definitions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72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7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Azure AI Foundry</a:t>
            </a:r>
          </a:p>
        </p:txBody>
      </p:sp>
      <p:sp>
        <p:nvSpPr>
          <p:cNvPr id="502" name="TagBg1"/>
          <p:cNvSpPr/>
          <p:nvPr/>
        </p:nvSpPr>
        <p:spPr>
          <a:xfrm>
            <a:off x="2066032" y="4590288"/>
            <a:ext cx="162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2066032" y="4590288"/>
            <a:ext cx="162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Semantic Kernel</a:t>
            </a:r>
          </a:p>
        </p:txBody>
      </p:sp>
      <p:sp>
        <p:nvSpPr>
          <p:cNvPr id="504" name="TagBg2"/>
          <p:cNvSpPr/>
          <p:nvPr/>
        </p:nvSpPr>
        <p:spPr>
          <a:xfrm>
            <a:off x="3781032" y="4590288"/>
            <a:ext cx="153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3781032" y="4590288"/>
            <a:ext cx="15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GitHub Copilot</a:t>
            </a:r>
          </a:p>
        </p:txBody>
      </p:sp>
      <p:sp>
        <p:nvSpPr>
          <p:cNvPr id="506" name="TagBg3"/>
          <p:cNvSpPr/>
          <p:nvPr/>
        </p:nvSpPr>
        <p:spPr>
          <a:xfrm>
            <a:off x="5401032" y="4590288"/>
            <a:ext cx="134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5401032" y="4590288"/>
            <a:ext cx="13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 DevOps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gent-Azure Intera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1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How Agents Interact with Azure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ARM, Bicep, Terraform, REST APIs — the agent toolbox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Tool calling as the integration mechanism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Agents don't have direct access to Azure — they call functions you expose. Each function wraps an Azure operation.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Infrastructure as code generation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 reasons about requirements, generates Bicep or Terraform, validates with what-if/plan, then executes via pipeline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ARM and REST API calls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For dynamic operations (scaling, restarting, tagging), agents call ARM REST endpoints directly with managed identity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Authentication and least-privilege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Agents authenticate as managed identities with scoped RBAC — no hardcoded credentials, full audit trail in Entra ID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48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48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ARM</a:t>
            </a:r>
          </a:p>
        </p:txBody>
      </p:sp>
      <p:sp>
        <p:nvSpPr>
          <p:cNvPr id="502" name="TagBg1"/>
          <p:cNvSpPr/>
          <p:nvPr/>
        </p:nvSpPr>
        <p:spPr>
          <a:xfrm>
            <a:off x="831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831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Bicep</a:t>
            </a:r>
          </a:p>
        </p:txBody>
      </p:sp>
      <p:sp>
        <p:nvSpPr>
          <p:cNvPr id="504" name="TagBg2"/>
          <p:cNvSpPr/>
          <p:nvPr/>
        </p:nvSpPr>
        <p:spPr>
          <a:xfrm>
            <a:off x="1596032" y="4590288"/>
            <a:ext cx="105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1596032" y="4590288"/>
            <a:ext cx="105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Terraform</a:t>
            </a:r>
          </a:p>
        </p:txBody>
      </p:sp>
      <p:sp>
        <p:nvSpPr>
          <p:cNvPr id="506" name="TagBg3"/>
          <p:cNvSpPr/>
          <p:nvPr/>
        </p:nvSpPr>
        <p:spPr>
          <a:xfrm>
            <a:off x="2741032" y="4590288"/>
            <a:ext cx="96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2741032" y="4590288"/>
            <a:ext cx="9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REST API</a:t>
            </a:r>
          </a:p>
        </p:txBody>
      </p:sp>
      <p:sp>
        <p:nvSpPr>
          <p:cNvPr id="508" name="TagBg4"/>
          <p:cNvSpPr/>
          <p:nvPr/>
        </p:nvSpPr>
        <p:spPr>
          <a:xfrm>
            <a:off x="3791032" y="4590288"/>
            <a:ext cx="172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3791032" y="4590288"/>
            <a:ext cx="172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Managed Identity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vOps Lifecyc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2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Agents in the DevOps Lifecycle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Plan  —  Provision  —  Monitor  —  Remediate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Plan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 analyses requirements, estimates cost with Azure Pricing API, flags risks, proposes architecture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Provision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 generates IaC, runs validation (what-if/plan), awaits approval gate if configured, then triggers pipeline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Monitor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Agent continuously queries Azure Monitor, Log Analytics, and Cost Management; surfaces anomalies with context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Remediate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On detecting drift or incident, agent executes a known remediation or escalates to human with full context attached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77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7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DevOps</a:t>
            </a:r>
          </a:p>
        </p:txBody>
      </p:sp>
      <p:sp>
        <p:nvSpPr>
          <p:cNvPr id="502" name="TagBg1"/>
          <p:cNvSpPr/>
          <p:nvPr/>
        </p:nvSpPr>
        <p:spPr>
          <a:xfrm>
            <a:off x="1116032" y="4590288"/>
            <a:ext cx="162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116032" y="4590288"/>
            <a:ext cx="162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 Pipelines</a:t>
            </a:r>
          </a:p>
        </p:txBody>
      </p:sp>
      <p:sp>
        <p:nvSpPr>
          <p:cNvPr id="504" name="TagBg2"/>
          <p:cNvSpPr/>
          <p:nvPr/>
        </p:nvSpPr>
        <p:spPr>
          <a:xfrm>
            <a:off x="2831032" y="4590288"/>
            <a:ext cx="143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831032" y="4590288"/>
            <a:ext cx="143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Azure Monitor</a:t>
            </a:r>
          </a:p>
        </p:txBody>
      </p:sp>
      <p:sp>
        <p:nvSpPr>
          <p:cNvPr id="506" name="TagBg3"/>
          <p:cNvSpPr/>
          <p:nvPr/>
        </p:nvSpPr>
        <p:spPr>
          <a:xfrm>
            <a:off x="4356032" y="4590288"/>
            <a:ext cx="124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4356032" y="4590288"/>
            <a:ext cx="12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Remediation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ve Demo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8F9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Bot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BF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Label"/>
          <p:cNvSpPr/>
          <p:nvPr/>
        </p:nvSpPr>
        <p:spPr>
          <a:xfrm>
            <a:off x="3200000" y="1200000"/>
            <a:ext cx="2744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C8F94"/>
                </a:solidFill>
                <a:latin typeface="Calibri" pitchFamily="34" charset="0"/>
              </a:rPr>
              <a:t>LIVE DEMO</a:t>
            </a:r>
          </a:p>
        </p:txBody>
      </p:sp>
      <p:sp>
        <p:nvSpPr>
          <p:cNvPr id="5" name="Heading"/>
          <p:cNvSpPr/>
          <p:nvPr/>
        </p:nvSpPr>
        <p:spPr>
          <a:xfrm>
            <a:off x="800000" y="1700000"/>
            <a:ext cx="7544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Agentic Provisioning</a:t>
            </a:r>
          </a:p>
        </p:txBody>
      </p:sp>
      <p:sp>
        <p:nvSpPr>
          <p:cNvPr id="6" name="Sub"/>
          <p:cNvSpPr/>
          <p:nvPr/>
        </p:nvSpPr>
        <p:spPr>
          <a:xfrm>
            <a:off x="800000" y="2700000"/>
            <a:ext cx="7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</a:rPr>
              <a:t>Spinning up an Azure environment from a single natural language prompt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uardrails and Governanc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2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Guardrails and Governance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Policy enforcement, approval gates, and audit trails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trust problem — and how to solve it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Autonomous agents are only as trustworthy as the boundaries you put around them. Governance is not optional.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Azure Policy as the rulebook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Define allowed regions, SKUs, required tags, and network configurations. Agents check policy before acting.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Human-in-the-loop approval gates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For high-blast-radius actions (prod deployments, security group changes), agents pause and request explicit approval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Full audit trail in Entra ID and Monitor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Every agent action is logged with the managed identity, timestamp, and operation — indistinguishable from human audit trails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34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3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Azure Policy</a:t>
            </a:r>
          </a:p>
        </p:txBody>
      </p:sp>
      <p:sp>
        <p:nvSpPr>
          <p:cNvPr id="502" name="TagBg1"/>
          <p:cNvSpPr/>
          <p:nvPr/>
        </p:nvSpPr>
        <p:spPr>
          <a:xfrm>
            <a:off x="168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68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504" name="TagBg2"/>
          <p:cNvSpPr/>
          <p:nvPr/>
        </p:nvSpPr>
        <p:spPr>
          <a:xfrm>
            <a:off x="292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92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Compliance</a:t>
            </a:r>
          </a:p>
        </p:txBody>
      </p:sp>
      <p:sp>
        <p:nvSpPr>
          <p:cNvPr id="506" name="TagBg3"/>
          <p:cNvSpPr/>
          <p:nvPr/>
        </p:nvSpPr>
        <p:spPr>
          <a:xfrm>
            <a:off x="4166032" y="4590288"/>
            <a:ext cx="58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4166032" y="4590288"/>
            <a:ext cx="58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RBAC</a:t>
            </a:r>
          </a:p>
        </p:txBody>
      </p:sp>
      <p:sp>
        <p:nvSpPr>
          <p:cNvPr id="508" name="TagBg4"/>
          <p:cNvSpPr/>
          <p:nvPr/>
        </p:nvSpPr>
        <p:spPr>
          <a:xfrm>
            <a:off x="4836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4836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Audit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ndA Break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8F9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Bot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BF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Label"/>
          <p:cNvSpPr/>
          <p:nvPr/>
        </p:nvSpPr>
        <p:spPr>
          <a:xfrm>
            <a:off x="3200000" y="1200000"/>
            <a:ext cx="2744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C8F94"/>
                </a:solidFill>
                <a:latin typeface="Calibri" pitchFamily="34" charset="0"/>
              </a:rPr>
              <a:t>Q&amp;A — BREAK #1</a:t>
            </a:r>
          </a:p>
        </p:txBody>
      </p:sp>
      <p:sp>
        <p:nvSpPr>
          <p:cNvPr id="5" name="Heading"/>
          <p:cNvSpPr/>
          <p:nvPr/>
        </p:nvSpPr>
        <p:spPr>
          <a:xfrm>
            <a:off x="800000" y="1700000"/>
            <a:ext cx="7544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Questions So Far?</a:t>
            </a:r>
          </a:p>
        </p:txBody>
      </p:sp>
      <p:sp>
        <p:nvSpPr>
          <p:cNvPr id="6" name="Sub"/>
          <p:cNvSpPr/>
          <p:nvPr/>
        </p:nvSpPr>
        <p:spPr>
          <a:xfrm>
            <a:off x="800000" y="2700000"/>
            <a:ext cx="7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</a:rPr>
              <a:t>5 minutes — anything from Parts 1 and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1985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198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3  —  CASE STUDY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Autonomous Remediation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Multi-region Azure environment — persistent configuration drift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scenario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 financial services client running workloads across Australia East, Southeast Asia, and West Europe was experiencing weekly configuration drift incidents. Manual detection averaged 4 hours; remediation added another 2.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agentic approach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An agent was deployed to poll Azure Resource Graph every 15 minutes, compare live state against the approved Bicep baseline, and automatically remediate low-risk drift (tags, diagnostic settings, NSG rules) — escalating high-risk changes for human approval.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outcome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Mean time to detect dropped from 4 hours to under 3 minutes. 78% of drift events were remediated autonomously. Engineers shifted from firefighting to reviewing weekly summary reports.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Case Study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124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124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Remediation</a:t>
            </a:r>
          </a:p>
        </p:txBody>
      </p:sp>
      <p:sp>
        <p:nvSpPr>
          <p:cNvPr id="504" name="TagBg2"/>
          <p:cNvSpPr/>
          <p:nvPr/>
        </p:nvSpPr>
        <p:spPr>
          <a:xfrm>
            <a:off x="2831032" y="4590288"/>
            <a:ext cx="210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831032" y="4590288"/>
            <a:ext cx="210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Azure Resource Graph</a:t>
            </a:r>
          </a:p>
        </p:txBody>
      </p:sp>
      <p:sp>
        <p:nvSpPr>
          <p:cNvPr id="506" name="TagBg3"/>
          <p:cNvSpPr/>
          <p:nvPr/>
        </p:nvSpPr>
        <p:spPr>
          <a:xfrm>
            <a:off x="5021032" y="4590288"/>
            <a:ext cx="134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5021032" y="4590288"/>
            <a:ext cx="13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Multi-Region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ase Study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1985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198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3  —  CASE STUDY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Agent-Driven Cost Optimisation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Continuous right-sizing across a 400-VM estate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scenario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 retail organisation running 400+ VMs across dev, test, and production environments was overspending by an estimated 35% due to over-provisioned SKUs and orphaned resources left running outside business hours.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agentic approach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An agent was connected to Azure Cost Management and Monitor. It generated weekly right-sizing recommendations, automatically shut down dev/test resources outside business hours, and flagged orphaned disks and NICs for review.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outcome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Monthly Azure spend reduced by 28% within 60 days. Zero production incidents attributable to agent actions. The team redirected saved budget toward new product development infrastructure.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Case Study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181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181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Cost Optimisation</a:t>
            </a:r>
          </a:p>
        </p:txBody>
      </p:sp>
      <p:sp>
        <p:nvSpPr>
          <p:cNvPr id="504" name="TagBg2"/>
          <p:cNvSpPr/>
          <p:nvPr/>
        </p:nvSpPr>
        <p:spPr>
          <a:xfrm>
            <a:off x="3401032" y="4590288"/>
            <a:ext cx="134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3401032" y="4590288"/>
            <a:ext cx="134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Right-Sizing</a:t>
            </a:r>
          </a:p>
        </p:txBody>
      </p:sp>
      <p:sp>
        <p:nvSpPr>
          <p:cNvPr id="506" name="TagBg3"/>
          <p:cNvSpPr/>
          <p:nvPr/>
        </p:nvSpPr>
        <p:spPr>
          <a:xfrm>
            <a:off x="4831032" y="4590288"/>
            <a:ext cx="219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4831032" y="4590288"/>
            <a:ext cx="219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 Cost Management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oll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8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8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POLL  #2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What is your biggest concern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about adopting agentic infrastructure?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Raise your hand for your top concern: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 — Security and blast radius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An agent with write access to production is a large attack surface if compromised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B — Auditability and compliance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How do I prove to auditors that agent actions meet our regulatory requirements?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C — Trust and explainability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I don't know why the agent made a particular decision — that makes me uncomfortable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D — Team readiness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We don't have the skills to build, run, or debug agentic systems yet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58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58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Poll</a:t>
            </a:r>
          </a:p>
        </p:txBody>
      </p:sp>
      <p:sp>
        <p:nvSpPr>
          <p:cNvPr id="502" name="TagBg1"/>
          <p:cNvSpPr/>
          <p:nvPr/>
        </p:nvSpPr>
        <p:spPr>
          <a:xfrm>
            <a:off x="926032" y="4590288"/>
            <a:ext cx="229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926032" y="4590288"/>
            <a:ext cx="229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Audience Participation</a:t>
            </a:r>
          </a:p>
        </p:txBody>
      </p:sp>
      <p:sp>
        <p:nvSpPr>
          <p:cNvPr id="504" name="TagBg2"/>
          <p:cNvSpPr/>
          <p:nvPr/>
        </p:nvSpPr>
        <p:spPr>
          <a:xfrm>
            <a:off x="330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330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506" name="TagBg3"/>
          <p:cNvSpPr/>
          <p:nvPr/>
        </p:nvSpPr>
        <p:spPr>
          <a:xfrm>
            <a:off x="4546032" y="4590288"/>
            <a:ext cx="96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4546032" y="4590288"/>
            <a:ext cx="9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Security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dressing Concer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3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Addressing the Concerns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Security, trust, blast radius, and compliance — head on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Security and blast radius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Scope agent identity to minimum required permissions. Separate identities per environment. Network-restrict agent egress.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Auditability and compliance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Every agent action via managed identity appears in Entra ID audit logs. Pair with Azure Monitor alerts for immediate visibility.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Trust and explainability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Require agents to produce a plan and rationale before execution. Log the reasoning chain. Implement mandatory human review for Tier 1 actions.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Team readiness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Start with a single low-risk use case (e.g., dev environment provisioning). Build internal capability before expanding scope.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96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9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Security</a:t>
            </a:r>
          </a:p>
        </p:txBody>
      </p:sp>
      <p:sp>
        <p:nvSpPr>
          <p:cNvPr id="502" name="TagBg1"/>
          <p:cNvSpPr/>
          <p:nvPr/>
        </p:nvSpPr>
        <p:spPr>
          <a:xfrm>
            <a:off x="130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30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Compliance</a:t>
            </a:r>
          </a:p>
        </p:txBody>
      </p:sp>
      <p:sp>
        <p:nvSpPr>
          <p:cNvPr id="504" name="TagBg2"/>
          <p:cNvSpPr/>
          <p:nvPr/>
        </p:nvSpPr>
        <p:spPr>
          <a:xfrm>
            <a:off x="2546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546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Trust</a:t>
            </a:r>
          </a:p>
        </p:txBody>
      </p:sp>
      <p:sp>
        <p:nvSpPr>
          <p:cNvPr id="506" name="TagBg3"/>
          <p:cNvSpPr/>
          <p:nvPr/>
        </p:nvSpPr>
        <p:spPr>
          <a:xfrm>
            <a:off x="3311032" y="4590288"/>
            <a:ext cx="58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311032" y="4590288"/>
            <a:ext cx="58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RBAC</a:t>
            </a:r>
          </a:p>
        </p:txBody>
      </p:sp>
      <p:sp>
        <p:nvSpPr>
          <p:cNvPr id="508" name="TagBg4"/>
          <p:cNvSpPr/>
          <p:nvPr/>
        </p:nvSpPr>
        <p:spPr>
          <a:xfrm>
            <a:off x="3981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3981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Engineer as Orchestrato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4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The Engineer as Orchestrator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From reactive administrator to strategic architect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role is not disappearing — it is evolving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Engineers who thrive will be those who learn to design, direct, and govern agents — not those who resist the shift.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/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Skills that matter more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Prompt engineering for infrastructure, tool design, agent orchestration, policy definition, and outcome-based thinking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Skills that matter less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Remembering CLI flags, writing repetitive YAML, manually chasing alerts at 2am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The new value-add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Designing the guardrails, defining the goals, reviewing agent outputs, and escalating edge cases — humans set the intent, agents execute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05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05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Engineers</a:t>
            </a:r>
          </a:p>
        </p:txBody>
      </p:sp>
      <p:sp>
        <p:nvSpPr>
          <p:cNvPr id="502" name="TagBg1"/>
          <p:cNvSpPr/>
          <p:nvPr/>
        </p:nvSpPr>
        <p:spPr>
          <a:xfrm>
            <a:off x="1401032" y="4590288"/>
            <a:ext cx="143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01032" y="4590288"/>
            <a:ext cx="143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Orchestration</a:t>
            </a:r>
          </a:p>
        </p:txBody>
      </p:sp>
      <p:sp>
        <p:nvSpPr>
          <p:cNvPr id="504" name="TagBg2"/>
          <p:cNvSpPr/>
          <p:nvPr/>
        </p:nvSpPr>
        <p:spPr>
          <a:xfrm>
            <a:off x="2926032" y="4590288"/>
            <a:ext cx="77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926032" y="4590288"/>
            <a:ext cx="7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Skills</a:t>
            </a:r>
          </a:p>
        </p:txBody>
      </p:sp>
      <p:sp>
        <p:nvSpPr>
          <p:cNvPr id="506" name="TagBg3"/>
          <p:cNvSpPr/>
          <p:nvPr/>
        </p:nvSpPr>
        <p:spPr>
          <a:xfrm>
            <a:off x="3786032" y="4590288"/>
            <a:ext cx="153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786032" y="4590288"/>
            <a:ext cx="15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Future of Work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doption Roadma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800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8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PART 4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A Practical Adoption Roadmap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Crawl  —  Walk  —  Run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Crawl — Low-risk, high-visibility wins (Months 1–3)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Deploy an agent for dev/test environment provisioning. Instrument with full logging. Let the team get comfortable with agent outputs.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Walk — Expand scope with human-in-the-loop (Months 3–6)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Add cost optimisation and drift detection agents. Introduce approval gates for production actions. Build a library of tested agent tools.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Run — Autonomous operations with governance layer (Month 6+)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Extend to production monitoring and remediation. Define clear escalation paths. Implement an agent health dashboard and anomaly detection on agent behaviour itself.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Guiding principle throughout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Start narrow, instrument everything, expand only what you trust, and always maintain a clear human override path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96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96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Adoption</a:t>
            </a:r>
          </a:p>
        </p:txBody>
      </p:sp>
      <p:sp>
        <p:nvSpPr>
          <p:cNvPr id="502" name="TagBg1"/>
          <p:cNvSpPr/>
          <p:nvPr/>
        </p:nvSpPr>
        <p:spPr>
          <a:xfrm>
            <a:off x="1306032" y="4590288"/>
            <a:ext cx="86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306032" y="4590288"/>
            <a:ext cx="86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Roadmap</a:t>
            </a:r>
          </a:p>
        </p:txBody>
      </p:sp>
      <p:sp>
        <p:nvSpPr>
          <p:cNvPr id="504" name="TagBg2"/>
          <p:cNvSpPr/>
          <p:nvPr/>
        </p:nvSpPr>
        <p:spPr>
          <a:xfrm>
            <a:off x="2261032" y="4590288"/>
            <a:ext cx="77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261032" y="4590288"/>
            <a:ext cx="7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DevOps</a:t>
            </a:r>
          </a:p>
        </p:txBody>
      </p:sp>
      <p:sp>
        <p:nvSpPr>
          <p:cNvPr id="506" name="TagBg3"/>
          <p:cNvSpPr/>
          <p:nvPr/>
        </p:nvSpPr>
        <p:spPr>
          <a:xfrm>
            <a:off x="3121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121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508" name="TagBg4"/>
          <p:cNvSpPr/>
          <p:nvPr/>
        </p:nvSpPr>
        <p:spPr>
          <a:xfrm>
            <a:off x="4361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4361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Azure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Takeaway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opBar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C8F9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BotBar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8BFE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LeftBar"/>
          <p:cNvSpPr/>
          <p:nvPr/>
        </p:nvSpPr>
        <p:spPr>
          <a:xfrm>
            <a:off x="0" y="164592"/>
            <a:ext cx="128016" cy="4809744"/>
          </a:xfrm>
          <a:prstGeom prst="rect">
            <a:avLst/>
          </a:prstGeom>
          <a:solidFill>
            <a:srgbClr val="259D77"/>
          </a:solidFill>
          <a:ln w="12700">
            <a:solidFill>
              <a:srgbClr val="259D7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3" name="Logo" descr="preencoded.png"/>
          <p:cNvPicPr>
            <a:picLocks noChangeAspect="1"/>
          </p:cNvPicPr>
          <p:nvPr/>
        </p:nvPicPr>
        <p:blipFill>
          <a:blip r:embed="rId3"/>
          <a:srcRect l="25532" t="36305" r="33999" b="14211"/>
          <a:stretch>
            <a:fillRect/>
          </a:stretch>
        </p:blipFill>
        <p:spPr>
          <a:xfrm>
            <a:off x="8072846" y="228506"/>
            <a:ext cx="869613" cy="859724"/>
          </a:xfrm>
          <a:prstGeom prst="rect">
            <a:avLst/>
          </a:prstGeom>
        </p:spPr>
      </p:pic>
      <p:sp>
        <p:nvSpPr>
          <p:cNvPr id="100" name="BadgeBg"/>
          <p:cNvSpPr/>
          <p:nvPr/>
        </p:nvSpPr>
        <p:spPr>
          <a:xfrm>
            <a:off x="256032" y="256032"/>
            <a:ext cx="1305000" cy="274320"/>
          </a:xfrm>
          <a:prstGeom prst="roundRect">
            <a:avLst>
              <a:gd name="adj" fmla="val 20000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1" name="BadgeText"/>
          <p:cNvSpPr/>
          <p:nvPr/>
        </p:nvSpPr>
        <p:spPr>
          <a:xfrm>
            <a:off x="256032" y="256032"/>
            <a:ext cx="1305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1C8F94"/>
                </a:solidFill>
                <a:latin typeface="Calibri" pitchFamily="34" charset="0"/>
              </a:rPr>
              <a:t>KEY TAKEAWAYS</a:t>
            </a:r>
            <a:endParaRPr lang="en-US" sz="800" dirty="0"/>
          </a:p>
        </p:txBody>
      </p:sp>
      <p:sp>
        <p:nvSpPr>
          <p:cNvPr id="200" name="Title"/>
          <p:cNvSpPr/>
          <p:nvPr/>
        </p:nvSpPr>
        <p:spPr>
          <a:xfrm>
            <a:off x="256032" y="6583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</a:rPr>
              <a:t>Infrastructure is Evolving,</a:t>
            </a:r>
            <a:endParaRPr lang="en-US" sz="2400" dirty="0"/>
          </a:p>
        </p:txBody>
      </p:sp>
      <p:sp>
        <p:nvSpPr>
          <p:cNvPr id="201" name="Title"/>
          <p:cNvSpPr/>
          <p:nvPr/>
        </p:nvSpPr>
        <p:spPr>
          <a:xfrm>
            <a:off x="256032" y="1115568"/>
            <a:ext cx="7800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8BFE"/>
                </a:solidFill>
                <a:latin typeface="Calibri" pitchFamily="34" charset="0"/>
              </a:rPr>
              <a:t>Not Dying — Five things to take away today</a:t>
            </a:r>
            <a:endParaRPr lang="en-US" sz="2400" dirty="0"/>
          </a:p>
        </p:txBody>
      </p:sp>
      <p:sp>
        <p:nvSpPr>
          <p:cNvPr id="300" name="Divider"/>
          <p:cNvSpPr/>
          <p:nvPr/>
        </p:nvSpPr>
        <p:spPr>
          <a:xfrm>
            <a:off x="256032" y="1682496"/>
            <a:ext cx="8631936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0" name="Body"/>
          <p:cNvSpPr/>
          <p:nvPr/>
        </p:nvSpPr>
        <p:spPr>
          <a:xfrm>
            <a:off x="256032" y="1810512"/>
            <a:ext cx="8631936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1.  Agentic AI is an amplifier, not a replacement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The best outcomes come from human intent + agent execution. Neither alone is sufficient.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2.  Azure has the building blocks today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AI Foundry, Semantic Kernel, GitHub Copilot, and Azure Policy form a complete agentic stack right now.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3.  Guardrails are not optional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Governance, least-privilege identity, and approval gates are what make autonomous systems trustworthy.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4.  Start small and instrument everything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A single well-governed use case that builds team confidence is worth more than a grand vision that stalls.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</a:rPr>
              <a:t>5.  The engineer's role is expanding, not shrinking</a:t>
            </a:r>
          </a:p>
          <a:p>
            <a:pPr marL="0" indent="0" algn="l">
              <a:lnSpc>
                <a:spcPct val="145000"/>
              </a:lnSpc>
              <a:buNone/>
            </a:pPr>
            <a:r>
              <a:rPr lang="en-US" sz="1400" b="0" dirty="0">
                <a:solidFill>
                  <a:srgbClr val="333333"/>
                </a:solidFill>
                <a:latin typeface="Calibri" pitchFamily="34" charset="0"/>
              </a:rPr>
              <a:t>Orchestrating agents, designing guardrails, and encoding institutional knowledge is high-value, high-impact work.</a:t>
            </a:r>
          </a:p>
        </p:txBody>
      </p:sp>
      <p:sp>
        <p:nvSpPr>
          <p:cNvPr id="500" name="TagBg0"/>
          <p:cNvSpPr/>
          <p:nvPr/>
        </p:nvSpPr>
        <p:spPr>
          <a:xfrm>
            <a:off x="256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1" name="TagText0"/>
          <p:cNvSpPr/>
          <p:nvPr/>
        </p:nvSpPr>
        <p:spPr>
          <a:xfrm>
            <a:off x="256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Agentic AI</a:t>
            </a:r>
          </a:p>
        </p:txBody>
      </p:sp>
      <p:sp>
        <p:nvSpPr>
          <p:cNvPr id="502" name="TagBg1"/>
          <p:cNvSpPr/>
          <p:nvPr/>
        </p:nvSpPr>
        <p:spPr>
          <a:xfrm>
            <a:off x="1496032" y="4590288"/>
            <a:ext cx="675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3" name="TagText1"/>
          <p:cNvSpPr/>
          <p:nvPr/>
        </p:nvSpPr>
        <p:spPr>
          <a:xfrm>
            <a:off x="1496032" y="4590288"/>
            <a:ext cx="675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Azure</a:t>
            </a:r>
          </a:p>
        </p:txBody>
      </p:sp>
      <p:sp>
        <p:nvSpPr>
          <p:cNvPr id="504" name="TagBg2"/>
          <p:cNvSpPr/>
          <p:nvPr/>
        </p:nvSpPr>
        <p:spPr>
          <a:xfrm>
            <a:off x="2261032" y="4590288"/>
            <a:ext cx="77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5" name="TagText2"/>
          <p:cNvSpPr/>
          <p:nvPr/>
        </p:nvSpPr>
        <p:spPr>
          <a:xfrm>
            <a:off x="2261032" y="4590288"/>
            <a:ext cx="77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DevOps</a:t>
            </a:r>
          </a:p>
        </p:txBody>
      </p:sp>
      <p:sp>
        <p:nvSpPr>
          <p:cNvPr id="506" name="TagBg3"/>
          <p:cNvSpPr/>
          <p:nvPr/>
        </p:nvSpPr>
        <p:spPr>
          <a:xfrm>
            <a:off x="3121032" y="4590288"/>
            <a:ext cx="1150000" cy="256032"/>
          </a:xfrm>
          <a:prstGeom prst="roundRect">
            <a:avLst>
              <a:gd name="adj" fmla="val 21429"/>
            </a:avLst>
          </a:prstGeom>
          <a:solidFill>
            <a:srgbClr val="E8F4FF"/>
          </a:solidFill>
          <a:ln w="12700">
            <a:solidFill>
              <a:srgbClr val="008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7" name="TagText3"/>
          <p:cNvSpPr/>
          <p:nvPr/>
        </p:nvSpPr>
        <p:spPr>
          <a:xfrm>
            <a:off x="3121032" y="4590288"/>
            <a:ext cx="115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8BFE"/>
                </a:solidFill>
                <a:latin typeface="Calibri" pitchFamily="34" charset="0"/>
              </a:rPr>
              <a:t>Governance</a:t>
            </a:r>
          </a:p>
        </p:txBody>
      </p:sp>
      <p:sp>
        <p:nvSpPr>
          <p:cNvPr id="508" name="TagBg4"/>
          <p:cNvSpPr/>
          <p:nvPr/>
        </p:nvSpPr>
        <p:spPr>
          <a:xfrm>
            <a:off x="4361032" y="4590288"/>
            <a:ext cx="1530000" cy="256032"/>
          </a:xfrm>
          <a:prstGeom prst="roundRect">
            <a:avLst>
              <a:gd name="adj" fmla="val 21429"/>
            </a:avLst>
          </a:prstGeom>
          <a:solidFill>
            <a:srgbClr val="E8F7F4"/>
          </a:solidFill>
          <a:ln w="12700">
            <a:solidFill>
              <a:srgbClr val="1C8F9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9" name="TagText4"/>
          <p:cNvSpPr/>
          <p:nvPr/>
        </p:nvSpPr>
        <p:spPr>
          <a:xfrm>
            <a:off x="4361032" y="4590288"/>
            <a:ext cx="15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C8F94"/>
                </a:solidFill>
                <a:latin typeface="Calibri" pitchFamily="34" charset="0"/>
              </a:rPr>
              <a:t>Infrastructure</a:t>
            </a:r>
          </a:p>
        </p:txBody>
      </p:sp>
      <p:sp>
        <p:nvSpPr>
          <p:cNvPr id="999" name="Footer"/>
          <p:cNvSpPr/>
          <p:nvPr/>
        </p:nvSpPr>
        <p:spPr>
          <a:xfrm>
            <a:off x="5934456" y="460857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i="1" dirty="0">
                <a:solidFill>
                  <a:srgbClr val="BBBBBB"/>
                </a:solidFill>
                <a:latin typeface="Calibri" pitchFamily="34" charset="0"/>
              </a:rPr>
              <a:t>Cloud Paradigm Pty Ltd  |  cloudparadigm.com.au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n QandA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Bar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C8F9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BotAccent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BF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Label"/>
          <p:cNvSpPr/>
          <p:nvPr/>
        </p:nvSpPr>
        <p:spPr>
          <a:xfrm>
            <a:off x="3200000" y="1200000"/>
            <a:ext cx="2744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1C8F94"/>
                </a:solidFill>
                <a:latin typeface="Calibri" pitchFamily="34" charset="0"/>
              </a:rPr>
              <a:t>Q&amp;A  —  OPEN DISCUSSION</a:t>
            </a:r>
          </a:p>
        </p:txBody>
      </p:sp>
      <p:sp>
        <p:nvSpPr>
          <p:cNvPr id="5" name="Heading"/>
          <p:cNvSpPr/>
          <p:nvPr/>
        </p:nvSpPr>
        <p:spPr>
          <a:xfrm>
            <a:off x="800000" y="1700000"/>
            <a:ext cx="7544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</a:rPr>
              <a:t>Questions, Challenges, Ideas?</a:t>
            </a:r>
          </a:p>
        </p:txBody>
      </p:sp>
      <p:sp>
        <p:nvSpPr>
          <p:cNvPr id="6" name="Sub"/>
          <p:cNvSpPr/>
          <p:nvPr/>
        </p:nvSpPr>
        <p:spPr>
          <a:xfrm>
            <a:off x="800000" y="2700000"/>
            <a:ext cx="7544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CC"/>
                </a:solidFill>
                <a:latin typeface="Calibri" pitchFamily="34" charset="0"/>
              </a:rPr>
              <a:t>Let's talk — no such thing as a bad question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214</Words>
  <Application>Microsoft Office PowerPoint</Application>
  <PresentationFormat>On-screen Show (16:9)</PresentationFormat>
  <Paragraphs>30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Infrastructure is Dead, Long Live Infrastructure in the Age of Agentic AI</dc:title>
  <dc:subject>PptxGenJS Presentation</dc:subject>
  <dc:creator>PptxGenJS</dc:creator>
  <cp:lastModifiedBy>William Reid Purvis</cp:lastModifiedBy>
  <cp:revision>1</cp:revision>
  <dcterms:created xsi:type="dcterms:W3CDTF">2026-03-24T23:34:22Z</dcterms:created>
  <dcterms:modified xsi:type="dcterms:W3CDTF">2026-03-24T23:37:11Z</dcterms:modified>
</cp:coreProperties>
</file>